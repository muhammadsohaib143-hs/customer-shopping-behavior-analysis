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Manrope"/>
      <p:regular r:id="rId201314"/>
    </p:embeddedFont>
    <p:embeddedFont>
      <p:font typeface="Manrope Medium"/>
      <p:regular r:id="rId201315"/>
    </p:embeddedFont>
    <p:embeddedFont>
      <p:font typeface="Manrope Bold"/>
      <p:regular r:id="rId201316"/>
    </p:embeddedFont>
    <p:embeddedFont>
      <p:font typeface="Prata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2857500"/>
            <a:ext cx="5968851" cy="2684264"/>
          </a:xfrm>
          <a:prstGeom prst="rect">
            <a:avLst/>
          </a:prstGeom>
          <a:solidFill>
            <a:srgbClr val="212326"/>
          </a:solidFill>
          <a:ln/>
        </p:spPr>
      </p:sp>
      <p:sp>
        <p:nvSpPr>
          <p:cNvPr id="3" name="Shape 1"/>
          <p:cNvSpPr/>
          <p:nvPr/>
        </p:nvSpPr>
        <p:spPr>
          <a:xfrm>
            <a:off x="965176" y="3162300"/>
            <a:ext cx="2626949" cy="312341"/>
          </a:xfrm>
          <a:prstGeom prst="roundRect">
            <a:avLst>
              <a:gd name="adj" fmla="val 3659"/>
            </a:avLst>
          </a:prstGeom>
          <a:solidFill>
            <a:srgbClr val="391F13"/>
          </a:solidFill>
          <a:ln/>
        </p:spPr>
      </p:sp>
      <p:sp>
        <p:nvSpPr>
          <p:cNvPr id="4" name="Text 2"/>
          <p:cNvSpPr/>
          <p:nvPr/>
        </p:nvSpPr>
        <p:spPr>
          <a:xfrm>
            <a:off x="1079473" y="3219450"/>
            <a:ext cx="300794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2" kern="0" dirty="0">
                <a:solidFill>
                  <a:srgbClr val="BDA189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CUSTOMER SHOPPING BEHAVIOR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5176" y="3627041"/>
            <a:ext cx="5257668" cy="846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400" spc="-41" kern="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What 3,900 purchases reveal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65176" y="4711303"/>
            <a:ext cx="525766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Revenue, loyalty, product demand, and the next growth moves.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908627" cy="6858000"/>
          </a:xfrm>
          <a:prstGeom prst="rect">
            <a:avLst/>
          </a:prstGeom>
          <a:solidFill>
            <a:srgbClr val="212326"/>
          </a:solidFill>
          <a:ln/>
        </p:spPr>
      </p:sp>
      <p:sp>
        <p:nvSpPr>
          <p:cNvPr id="3" name="Shape 1"/>
          <p:cNvSpPr/>
          <p:nvPr/>
        </p:nvSpPr>
        <p:spPr>
          <a:xfrm>
            <a:off x="482588" y="533400"/>
            <a:ext cx="929954" cy="312341"/>
          </a:xfrm>
          <a:prstGeom prst="roundRect">
            <a:avLst>
              <a:gd name="adj" fmla="val 3659"/>
            </a:avLst>
          </a:prstGeom>
          <a:solidFill>
            <a:srgbClr val="391F13"/>
          </a:solidFill>
          <a:ln/>
        </p:spPr>
      </p:sp>
      <p:sp>
        <p:nvSpPr>
          <p:cNvPr id="4" name="Text 2"/>
          <p:cNvSpPr/>
          <p:nvPr/>
        </p:nvSpPr>
        <p:spPr>
          <a:xfrm>
            <a:off x="596885" y="590550"/>
            <a:ext cx="131094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2" kern="0" dirty="0">
                <a:solidFill>
                  <a:srgbClr val="BDA189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THE BASE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2588" y="4657923"/>
            <a:ext cx="5943451" cy="1717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4600" spc="-55" kern="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Large.</a:t>
            </a:r>
            <a:endParaRPr lang="en-US" sz="460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4600" spc="-55" kern="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Loyal.</a:t>
            </a:r>
            <a:endParaRPr lang="en-US" sz="460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4600" spc="-55" kern="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Under-subscribed.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442014" y="533400"/>
            <a:ext cx="4190895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600" spc="-21" kern="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3,900 purchases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442014" y="1128117"/>
            <a:ext cx="4190895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Analysis spans 18 fields across demographics, products, promotions, shipping, and purchase frequency.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442014" y="2178546"/>
            <a:ext cx="4190895" cy="31651"/>
          </a:xfrm>
          <a:prstGeom prst="roundRect">
            <a:avLst>
              <a:gd name="adj" fmla="val 49998"/>
            </a:avLst>
          </a:prstGeom>
          <a:solidFill>
            <a:srgbClr val="BE6841"/>
          </a:solidFill>
          <a:ln/>
        </p:spPr>
      </p:sp>
      <p:sp>
        <p:nvSpPr>
          <p:cNvPr id="9" name="Text 7"/>
          <p:cNvSpPr/>
          <p:nvPr/>
        </p:nvSpPr>
        <p:spPr>
          <a:xfrm>
            <a:off x="7442014" y="2665909"/>
            <a:ext cx="4190895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F2D4B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3,116 loyal customers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442014" y="3126879"/>
            <a:ext cx="4190895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80% of the customer segments are classified as Loyal.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442014" y="3914477"/>
            <a:ext cx="4190895" cy="31651"/>
          </a:xfrm>
          <a:prstGeom prst="roundRect">
            <a:avLst>
              <a:gd name="adj" fmla="val 49998"/>
            </a:avLst>
          </a:prstGeom>
          <a:solidFill>
            <a:srgbClr val="BE6841"/>
          </a:solidFill>
          <a:ln/>
        </p:spPr>
      </p:sp>
      <p:sp>
        <p:nvSpPr>
          <p:cNvPr id="12" name="Text 10"/>
          <p:cNvSpPr/>
          <p:nvPr/>
        </p:nvSpPr>
        <p:spPr>
          <a:xfrm>
            <a:off x="7442014" y="4401840"/>
            <a:ext cx="4190895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F2D4B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27% subscribed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42014" y="4862810"/>
            <a:ext cx="4749681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1,053 customers are subscribers; 2,847 are not.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387" y="533400"/>
            <a:ext cx="1205775" cy="312341"/>
          </a:xfrm>
          <a:prstGeom prst="roundRect">
            <a:avLst>
              <a:gd name="adj" fmla="val 3659"/>
            </a:avLst>
          </a:prstGeom>
          <a:solidFill>
            <a:srgbClr val="391F13"/>
          </a:solidFill>
          <a:ln/>
        </p:spPr>
      </p:sp>
      <p:sp>
        <p:nvSpPr>
          <p:cNvPr id="3" name="Text 1"/>
          <p:cNvSpPr/>
          <p:nvPr/>
        </p:nvSpPr>
        <p:spPr>
          <a:xfrm>
            <a:off x="647684" y="590550"/>
            <a:ext cx="158676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2" kern="0" dirty="0">
                <a:solidFill>
                  <a:srgbClr val="BDA189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REVENUE MIX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3387" y="944166"/>
            <a:ext cx="2946326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600" spc="-21" kern="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Revenue is concentrated in clothing and male shoppers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3387" y="4798318"/>
            <a:ext cx="2946326" cy="1577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Male customers generated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$157,890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versus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$75,191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from female customers. Clothing led category revenue at roughly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$100K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7892" y="558800"/>
            <a:ext cx="7264218" cy="43708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533400"/>
            <a:ext cx="823297" cy="312341"/>
          </a:xfrm>
          <a:prstGeom prst="roundRect">
            <a:avLst>
              <a:gd name="adj" fmla="val 3659"/>
            </a:avLst>
          </a:prstGeom>
          <a:solidFill>
            <a:srgbClr val="391F13"/>
          </a:solidFill>
          <a:ln/>
        </p:spPr>
      </p:sp>
      <p:sp>
        <p:nvSpPr>
          <p:cNvPr id="3" name="Text 1"/>
          <p:cNvSpPr/>
          <p:nvPr/>
        </p:nvSpPr>
        <p:spPr>
          <a:xfrm>
            <a:off x="723882" y="590550"/>
            <a:ext cx="120428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2" kern="0" dirty="0">
                <a:solidFill>
                  <a:srgbClr val="BDA189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AGE MIX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972741"/>
            <a:ext cx="10972526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600" spc="-21" kern="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Young adults lead revenue, but every age group matters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585" y="2050951"/>
            <a:ext cx="11582110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Young Adults contributed $62,143, followed by Middle-aged customers at $59,197, Adults at $55,978, and Seniors at $55,763.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529681"/>
            <a:ext cx="10413739" cy="3175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533400"/>
            <a:ext cx="1227107" cy="312341"/>
          </a:xfrm>
          <a:prstGeom prst="roundRect">
            <a:avLst>
              <a:gd name="adj" fmla="val 3659"/>
            </a:avLst>
          </a:prstGeom>
          <a:solidFill>
            <a:srgbClr val="391F13"/>
          </a:solidFill>
          <a:ln/>
        </p:spPr>
      </p:sp>
      <p:sp>
        <p:nvSpPr>
          <p:cNvPr id="3" name="Text 1"/>
          <p:cNvSpPr/>
          <p:nvPr/>
        </p:nvSpPr>
        <p:spPr>
          <a:xfrm>
            <a:off x="723882" y="590550"/>
            <a:ext cx="160809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2" kern="0" dirty="0">
                <a:solidFill>
                  <a:srgbClr val="BDA189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PROMOTIONS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998141"/>
            <a:ext cx="10972526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600" spc="-21" kern="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Discounts can drive volume without killing basket size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9585" y="1592858"/>
            <a:ext cx="3454314" cy="2183309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6" name="Text 4"/>
          <p:cNvSpPr/>
          <p:nvPr/>
        </p:nvSpPr>
        <p:spPr>
          <a:xfrm>
            <a:off x="914377" y="1897658"/>
            <a:ext cx="2844729" cy="572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4600" spc="-55" kern="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839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914377" y="2708275"/>
            <a:ext cx="2844729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customers used discounts and still spent above the average purchase amount.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68691" y="1592858"/>
            <a:ext cx="3454314" cy="2183309"/>
          </a:xfrm>
          <a:prstGeom prst="rect">
            <a:avLst/>
          </a:prstGeom>
          <a:solidFill>
            <a:srgbClr val="F2D4BA"/>
          </a:solidFill>
          <a:ln/>
        </p:spPr>
      </p:sp>
      <p:sp>
        <p:nvSpPr>
          <p:cNvPr id="9" name="Text 7"/>
          <p:cNvSpPr/>
          <p:nvPr/>
        </p:nvSpPr>
        <p:spPr>
          <a:xfrm>
            <a:off x="4673483" y="1897658"/>
            <a:ext cx="2844729" cy="579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Top discount-dependent products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673483" y="2648148"/>
            <a:ext cx="2844729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Hat 50.00% · Sneakers 49.66% · Coat 49.07% · Sweater 48.17% · Pants 47.37%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27797" y="1592858"/>
            <a:ext cx="3454314" cy="2183309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12" name="Text 10"/>
          <p:cNvSpPr/>
          <p:nvPr/>
        </p:nvSpPr>
        <p:spPr>
          <a:xfrm>
            <a:off x="8432589" y="1897658"/>
            <a:ext cx="2844729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Watch the margin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432589" y="2358628"/>
            <a:ext cx="2844729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Discount-led demand is strongest in a focused set of products.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470288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52876" y="508000"/>
            <a:ext cx="1615836" cy="312341"/>
          </a:xfrm>
          <a:prstGeom prst="roundRect">
            <a:avLst>
              <a:gd name="adj" fmla="val 3659"/>
            </a:avLst>
          </a:prstGeom>
          <a:solidFill>
            <a:srgbClr val="391F13"/>
          </a:solidFill>
          <a:ln/>
        </p:spPr>
      </p:sp>
      <p:sp>
        <p:nvSpPr>
          <p:cNvPr id="4" name="Text 1"/>
          <p:cNvSpPr/>
          <p:nvPr/>
        </p:nvSpPr>
        <p:spPr>
          <a:xfrm>
            <a:off x="5067173" y="565150"/>
            <a:ext cx="199682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2" kern="0" dirty="0">
                <a:solidFill>
                  <a:srgbClr val="BDA189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PRODUCT SIGNALS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952876" y="918766"/>
            <a:ext cx="6680033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600" spc="-21" kern="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Product demand is broad, but a few items set the pace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952876" y="1870075"/>
            <a:ext cx="6680033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Top-rated products: Gloves </a:t>
            </a:r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3.86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Sandals </a:t>
            </a:r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3.84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Boots </a:t>
            </a:r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3.82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Hat </a:t>
            </a:r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3.80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Skirt </a:t>
            </a:r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3.78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52876" y="2611636"/>
          <a:ext cx="9143771" cy="914400"/>
        </p:xfrm>
        <a:graphic>
          <a:graphicData uri="http://schemas.openxmlformats.org/drawingml/2006/table">
            <a:tbl>
              <a:tblPr/>
              <a:tblGrid>
                <a:gridCol w="1603208"/>
                <a:gridCol w="5076825"/>
              </a:tblGrid>
              <a:tr h="42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2D4B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Signal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2D4B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Products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Top-rated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BDA1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A1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A18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Gloves, Sandals, Boots, Hat, Skirt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Accessories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Jewelry, Sunglasses, Belt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Clothing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Blouse, Pants, Shirt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Footwear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Sandals, Shoes, Sneakers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5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Outerwear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Jacket, Coat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387" y="533400"/>
            <a:ext cx="921322" cy="312341"/>
          </a:xfrm>
          <a:prstGeom prst="roundRect">
            <a:avLst>
              <a:gd name="adj" fmla="val 3659"/>
            </a:avLst>
          </a:prstGeom>
          <a:solidFill>
            <a:srgbClr val="391F13"/>
          </a:solidFill>
          <a:ln/>
        </p:spPr>
      </p:sp>
      <p:sp>
        <p:nvSpPr>
          <p:cNvPr id="3" name="Text 1"/>
          <p:cNvSpPr/>
          <p:nvPr/>
        </p:nvSpPr>
        <p:spPr>
          <a:xfrm>
            <a:off x="647684" y="590550"/>
            <a:ext cx="130231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2" kern="0" dirty="0">
                <a:solidFill>
                  <a:srgbClr val="BDA189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SHIPPING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3387" y="944166"/>
            <a:ext cx="2946326" cy="1069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600" spc="-21" kern="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Shipping speed adds value, but only at the margin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3387" y="4798318"/>
            <a:ext cx="2946326" cy="1577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Speed may support a modest basket lift, so it belongs in targeted offers rather than blanket discounts.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2493" y="558800"/>
            <a:ext cx="7289618" cy="40772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292493" y="4734520"/>
            <a:ext cx="7899202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1" kern="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Express average purchase: $60.48 · Standard average purchase: $58.46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533400"/>
            <a:ext cx="1425142" cy="312341"/>
          </a:xfrm>
          <a:prstGeom prst="roundRect">
            <a:avLst>
              <a:gd name="adj" fmla="val 3659"/>
            </a:avLst>
          </a:prstGeom>
          <a:solidFill>
            <a:srgbClr val="391F13"/>
          </a:solidFill>
          <a:ln/>
        </p:spPr>
      </p:sp>
      <p:sp>
        <p:nvSpPr>
          <p:cNvPr id="3" name="Text 1"/>
          <p:cNvSpPr/>
          <p:nvPr/>
        </p:nvSpPr>
        <p:spPr>
          <a:xfrm>
            <a:off x="723882" y="590550"/>
            <a:ext cx="180613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2" kern="0" dirty="0">
                <a:solidFill>
                  <a:srgbClr val="BDA189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SUBSCRIPTIONS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944166"/>
            <a:ext cx="10972526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600" spc="-21" kern="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Subscriptions are the clearest growth gap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585" y="1538883"/>
            <a:ext cx="11582110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Subscribers generated </a:t>
            </a:r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$62,645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in total revenue at a </a:t>
            </a:r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$59.49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average spend. Non-subscribers generated </a:t>
            </a:r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$170,436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at </a:t>
            </a:r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$59.87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017613"/>
          <a:ext cx="9143771" cy="914400"/>
        </p:xfrm>
        <a:graphic>
          <a:graphicData uri="http://schemas.openxmlformats.org/drawingml/2006/table">
            <a:tbl>
              <a:tblPr/>
              <a:tblGrid>
                <a:gridCol w="2852857"/>
                <a:gridCol w="1975055"/>
                <a:gridCol w="2413956"/>
                <a:gridCol w="3730659"/>
              </a:tblGrid>
              <a:tr h="42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2D4B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Subscription status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2D4B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Customers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2D4B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Average spend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2D4B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Total revenue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Yes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2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4B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1,053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$59.49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$62,645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5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No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BDA1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A1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A1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A18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2,847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$59.87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$170,436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09585" y="3491905"/>
            <a:ext cx="5333867" cy="1443831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8" name="Text 5"/>
          <p:cNvSpPr/>
          <p:nvPr/>
        </p:nvSpPr>
        <p:spPr>
          <a:xfrm>
            <a:off x="914377" y="3720505"/>
            <a:ext cx="4724282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 not sell “more spend”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14377" y="4181475"/>
            <a:ext cx="5029074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Average spend is nearly flat.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48244" y="3491905"/>
            <a:ext cx="5333867" cy="1443831"/>
          </a:xfrm>
          <a:prstGeom prst="rect">
            <a:avLst/>
          </a:prstGeom>
          <a:solidFill>
            <a:srgbClr val="F2D4BA"/>
          </a:solidFill>
          <a:ln/>
        </p:spPr>
      </p:sp>
      <p:sp>
        <p:nvSpPr>
          <p:cNvPr id="11" name="Text 8"/>
          <p:cNvSpPr/>
          <p:nvPr/>
        </p:nvSpPr>
        <p:spPr>
          <a:xfrm>
            <a:off x="6553036" y="3720505"/>
            <a:ext cx="4724282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Sell the benefit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553036" y="4181475"/>
            <a:ext cx="4724282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Exclusive access, convenience, or rewards that convert an already-active base.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783" y="533400"/>
            <a:ext cx="1634687" cy="312341"/>
          </a:xfrm>
          <a:prstGeom prst="roundRect">
            <a:avLst>
              <a:gd name="adj" fmla="val 3659"/>
            </a:avLst>
          </a:prstGeom>
          <a:solidFill>
            <a:srgbClr val="391F13"/>
          </a:solidFill>
          <a:ln/>
        </p:spPr>
      </p:sp>
      <p:sp>
        <p:nvSpPr>
          <p:cNvPr id="3" name="Text 1"/>
          <p:cNvSpPr/>
          <p:nvPr/>
        </p:nvSpPr>
        <p:spPr>
          <a:xfrm>
            <a:off x="800080" y="590550"/>
            <a:ext cx="201567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2" kern="0" dirty="0">
                <a:solidFill>
                  <a:srgbClr val="BDA189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RETENTION ENGINE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783" y="944166"/>
            <a:ext cx="10820129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600" spc="-21" kern="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Turn loyalty into a stronger retention engine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783" y="1709837"/>
            <a:ext cx="949698" cy="2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50" dirty="0">
                <a:solidFill>
                  <a:srgbClr val="F2D4B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01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1203692" y="1716683"/>
            <a:ext cx="10302220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F2D4B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Boost subscriptions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203692" y="2177653"/>
            <a:ext cx="10302220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Package exclusive benefits for the </a:t>
            </a:r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2,847 non-subscribers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783" y="2931616"/>
            <a:ext cx="949698" cy="2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50" dirty="0">
                <a:solidFill>
                  <a:srgbClr val="F2D4B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02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1203692" y="2938463"/>
            <a:ext cx="10302220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F2D4B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Reward repeat buyers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203692" y="3399433"/>
            <a:ext cx="10302220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 loyalty mechanics to deepen the </a:t>
            </a:r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701 Returning customers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and protect the </a:t>
            </a:r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3,116 Loyal customers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783" y="4153396"/>
            <a:ext cx="949698" cy="2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50" dirty="0">
                <a:solidFill>
                  <a:srgbClr val="F2D4B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03</a:t>
            </a:r>
            <a:endParaRPr lang="en-US" sz="2150" dirty="0"/>
          </a:p>
        </p:txBody>
      </p:sp>
      <p:sp>
        <p:nvSpPr>
          <p:cNvPr id="12" name="Text 10"/>
          <p:cNvSpPr/>
          <p:nvPr/>
        </p:nvSpPr>
        <p:spPr>
          <a:xfrm>
            <a:off x="1203692" y="4160242"/>
            <a:ext cx="10302220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F2D4B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Position proven products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203692" y="4621212"/>
            <a:ext cx="10302220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Feature top-rated and category-leading items in campaigns.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783" y="5375275"/>
            <a:ext cx="949698" cy="2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50" dirty="0">
                <a:solidFill>
                  <a:srgbClr val="F2D4B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04</a:t>
            </a:r>
            <a:endParaRPr lang="en-US" sz="2150" dirty="0"/>
          </a:p>
        </p:txBody>
      </p:sp>
      <p:sp>
        <p:nvSpPr>
          <p:cNvPr id="15" name="Text 13"/>
          <p:cNvSpPr/>
          <p:nvPr/>
        </p:nvSpPr>
        <p:spPr>
          <a:xfrm>
            <a:off x="1203692" y="5382121"/>
            <a:ext cx="10302220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F2D4B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Target by value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203692" y="5843091"/>
            <a:ext cx="10302220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Focus on Young Adults, high-revenue categories, and Express-shipping users.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5783" y="2754313"/>
            <a:ext cx="10820129" cy="12700"/>
          </a:xfrm>
          <a:prstGeom prst="rect">
            <a:avLst/>
          </a:prstGeom>
          <a:solidFill>
            <a:srgbClr val="50352B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783" y="3976092"/>
            <a:ext cx="10820129" cy="12700"/>
          </a:xfrm>
          <a:prstGeom prst="rect">
            <a:avLst/>
          </a:prstGeom>
          <a:solidFill>
            <a:srgbClr val="50352B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783" y="5197971"/>
            <a:ext cx="10820129" cy="12700"/>
          </a:xfrm>
          <a:prstGeom prst="rect">
            <a:avLst/>
          </a:prstGeom>
          <a:solidFill>
            <a:srgbClr val="50352B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85800"/>
            <a:ext cx="5460863" cy="3443188"/>
          </a:xfrm>
          <a:prstGeom prst="rect">
            <a:avLst/>
          </a:prstGeom>
          <a:solidFill>
            <a:srgbClr val="BDA189"/>
          </a:solidFill>
          <a:ln/>
        </p:spPr>
      </p:sp>
      <p:sp>
        <p:nvSpPr>
          <p:cNvPr id="3" name="Shape 1"/>
          <p:cNvSpPr/>
          <p:nvPr/>
        </p:nvSpPr>
        <p:spPr>
          <a:xfrm>
            <a:off x="965176" y="990600"/>
            <a:ext cx="1071635" cy="312341"/>
          </a:xfrm>
          <a:prstGeom prst="roundRect">
            <a:avLst>
              <a:gd name="adj" fmla="val 3659"/>
            </a:avLst>
          </a:prstGeom>
          <a:solidFill>
            <a:srgbClr val="391F13"/>
          </a:solidFill>
          <a:ln/>
        </p:spPr>
      </p:sp>
      <p:sp>
        <p:nvSpPr>
          <p:cNvPr id="4" name="Text 2"/>
          <p:cNvSpPr/>
          <p:nvPr/>
        </p:nvSpPr>
        <p:spPr>
          <a:xfrm>
            <a:off x="1079473" y="1047750"/>
            <a:ext cx="145262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2" kern="0" dirty="0">
                <a:solidFill>
                  <a:srgbClr val="BDA189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NEXT MOVE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5176" y="1528366"/>
            <a:ext cx="4749681" cy="1269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400" spc="-41" kern="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Make the next purchase easier to choose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65176" y="3035697"/>
            <a:ext cx="4749681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Lead with proven products, use discounts where they already convert, and give loyal non-subscribers a reason to join.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2026-09-29T18:16:45Z</dcterms:created>
  <dcterms:modified xsi:type="dcterms:W3CDTF">2026-09-29T18:16:45Z</dcterms:modified>
</cp:coreProperties>
</file>